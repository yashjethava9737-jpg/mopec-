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BM Plex Mono Bold" charset="1" panose="020B0809050203000203"/>
      <p:regular r:id="rId21"/>
    </p:embeddedFont>
    <p:embeddedFont>
      <p:font typeface="Akzidenz-Grotesk Bold" charset="1" panose="02000803050000020004"/>
      <p:regular r:id="rId22"/>
    </p:embeddedFont>
    <p:embeddedFont>
      <p:font typeface="IBM Plex Sans" charset="1" panose="020B0503050203000203"/>
      <p:regular r:id="rId23"/>
    </p:embeddedFont>
    <p:embeddedFont>
      <p:font typeface="IBM Plex Mono" charset="1" panose="020B050905020300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018">
                <a:alpha val="5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6300" y="838200"/>
            <a:ext cx="76200" cy="7143750"/>
            <a:chOff x="0" y="0"/>
            <a:chExt cx="101600" cy="952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9525000"/>
                  </a:lnTo>
                  <a:lnTo>
                    <a:pt x="0" y="9525000"/>
                  </a:lnTo>
                  <a:close/>
                </a:path>
              </a:pathLst>
            </a:custGeom>
            <a:solidFill>
              <a:srgbClr val="20E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600" cy="956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7300" y="1038225"/>
            <a:ext cx="9334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 CITIES / FUZZY CONTROL / COMPUTER 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300" y="2152650"/>
            <a:ext cx="9048750" cy="243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9"/>
              </a:lnSpc>
            </a:pPr>
            <a:r>
              <a:rPr lang="en-US" sz="9225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CYBERTRAFFIC</a:t>
            </a:r>
          </a:p>
          <a:p>
            <a:pPr algn="l">
              <a:lnSpc>
                <a:spcPts val="9409"/>
              </a:lnSpc>
            </a:pPr>
            <a:r>
              <a:rPr lang="en-US" sz="9225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" y="4810125"/>
            <a:ext cx="8572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76FF9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Adaptive Signal Control &amp; Vision Nexus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" y="5818823"/>
            <a:ext cx="762000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Prepared by:-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Prajapti Dhairya Kishorbhai:-240280103060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Jethava Yash:-240280106056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Patel Krishkumar Rajubhai:- 240280106103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Prajapati Saurav A:-240280106120</a:t>
            </a:r>
          </a:p>
          <a:p>
            <a:pPr algn="l">
              <a:lnSpc>
                <a:spcPts val="243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8210550"/>
            <a:ext cx="4000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/ 10 /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/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problem with fixed-time signals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810750" y="2095500"/>
            <a:ext cx="7600950" cy="7048500"/>
          </a:xfrm>
          <a:custGeom>
            <a:avLst/>
            <a:gdLst/>
            <a:ahLst/>
            <a:cxnLst/>
            <a:rect r="r" b="b" t="t" l="l"/>
            <a:pathLst>
              <a:path h="7048500" w="7600950">
                <a:moveTo>
                  <a:pt x="0" y="0"/>
                </a:moveTo>
                <a:lnTo>
                  <a:pt x="7600950" y="0"/>
                </a:lnTo>
                <a:lnTo>
                  <a:pt x="7600950" y="7048500"/>
                </a:lnTo>
                <a:lnTo>
                  <a:pt x="0" y="704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" r="0" b="-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666750" y="2333625"/>
            <a:ext cx="8096250" cy="1571625"/>
            <a:chOff x="0" y="0"/>
            <a:chExt cx="10795000" cy="2095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795000" cy="2095500"/>
              <a:chOff x="0" y="0"/>
              <a:chExt cx="10795000" cy="2095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950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7950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79400" y="279400"/>
              <a:ext cx="1016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24000" y="254000"/>
              <a:ext cx="8255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1"/>
                </a:lnSpc>
              </a:pPr>
              <a:r>
                <a:rPr lang="en-US" sz="2550" b="true">
                  <a:solidFill>
                    <a:srgbClr val="F2F7F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Wasted green time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24000" y="949325"/>
              <a:ext cx="889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Off-peak lanes stay empty while the timer keeps running.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6750" y="4286250"/>
            <a:ext cx="8096250" cy="1571625"/>
            <a:chOff x="0" y="0"/>
            <a:chExt cx="10795000" cy="2095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795000" cy="2095500"/>
              <a:chOff x="0" y="0"/>
              <a:chExt cx="10795000" cy="2095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950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7950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79400" y="279400"/>
              <a:ext cx="1016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524000" y="254000"/>
              <a:ext cx="8255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1"/>
                </a:lnSpc>
              </a:pPr>
              <a:r>
                <a:rPr lang="en-US" sz="2550" b="true">
                  <a:solidFill>
                    <a:srgbClr val="F2F7F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Rush-hour failure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24000" y="949325"/>
              <a:ext cx="889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Rigid cycles cannot absorb sudden queue growth.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6750" y="6238875"/>
            <a:ext cx="8096250" cy="1571625"/>
            <a:chOff x="0" y="0"/>
            <a:chExt cx="10795000" cy="2095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795000" cy="2095500"/>
              <a:chOff x="0" y="0"/>
              <a:chExt cx="10795000" cy="2095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795000" cy="2095500"/>
              </a:xfrm>
              <a:custGeom>
                <a:avLst/>
                <a:gdLst/>
                <a:ahLst/>
                <a:cxnLst/>
                <a:rect r="r" b="b" t="t" l="l"/>
                <a:pathLst>
                  <a:path h="20955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2095500"/>
                    </a:lnTo>
                    <a:lnTo>
                      <a:pt x="0" y="2095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795000" cy="213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79400" y="279400"/>
              <a:ext cx="1016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524000" y="254000"/>
              <a:ext cx="8255000" cy="4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1"/>
                </a:lnSpc>
              </a:pPr>
              <a:r>
                <a:rPr lang="en-US" sz="2550" b="true">
                  <a:solidFill>
                    <a:srgbClr val="F2F7F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Blind to incidents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524000" y="949325"/>
              <a:ext cx="889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live awareness of ambulances, collisions, or lane blockage.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/ SYSTEM INTENT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System vision &amp;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" y="2066925"/>
            <a:ext cx="1428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Mamdani inference core turns uncertain, live urban conditions into explainable signal decisions.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6300" y="3333750"/>
            <a:ext cx="3714750" cy="4095750"/>
            <a:chOff x="0" y="0"/>
            <a:chExt cx="4953000" cy="5461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53000" cy="5461000"/>
              <a:chOff x="0" y="0"/>
              <a:chExt cx="4953000" cy="546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53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953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953000" cy="88900"/>
              <a:chOff x="0" y="0"/>
              <a:chExt cx="4953000" cy="889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530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953000" cy="12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612775"/>
              <a:ext cx="4064000" cy="78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LINGUISTIC</a:t>
              </a:r>
            </a:p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VARIABLES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31800" y="1939925"/>
              <a:ext cx="4191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Translate queues and waits into human-readable states.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991100" y="3333750"/>
            <a:ext cx="3714750" cy="4095750"/>
            <a:chOff x="0" y="0"/>
            <a:chExt cx="4953000" cy="5461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953000" cy="5461000"/>
              <a:chOff x="0" y="0"/>
              <a:chExt cx="4953000" cy="5461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953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953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4953000" cy="88900"/>
              <a:chOff x="0" y="0"/>
              <a:chExt cx="4953000" cy="889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953000" cy="12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612775"/>
              <a:ext cx="4064000" cy="78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76FF9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MEMBERSHIP</a:t>
              </a:r>
            </a:p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76FF9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FUNCTIONS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939925"/>
              <a:ext cx="4191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Model gradual transitions instead of brittle thresholds.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05900" y="3333750"/>
            <a:ext cx="3714750" cy="4095750"/>
            <a:chOff x="0" y="0"/>
            <a:chExt cx="4953000" cy="5461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953000" cy="5461000"/>
              <a:chOff x="0" y="0"/>
              <a:chExt cx="4953000" cy="5461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4953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4953000" cy="88900"/>
              <a:chOff x="0" y="0"/>
              <a:chExt cx="4953000" cy="889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9530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4953000" cy="12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431800" y="612775"/>
              <a:ext cx="4064000" cy="78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A879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RULE</a:t>
              </a:r>
            </a:p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A879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BASE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431800" y="1939925"/>
              <a:ext cx="4191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Encode expert traffic-control reasoning in nine rules.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20700" y="3333750"/>
            <a:ext cx="3714750" cy="4095750"/>
            <a:chOff x="0" y="0"/>
            <a:chExt cx="4953000" cy="5461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953000" cy="5461000"/>
              <a:chOff x="0" y="0"/>
              <a:chExt cx="4953000" cy="5461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953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4953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4953000" cy="88900"/>
              <a:chOff x="0" y="0"/>
              <a:chExt cx="4953000" cy="889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9530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FFC8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4953000" cy="12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431800" y="612775"/>
              <a:ext cx="4064000" cy="788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FFC85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SIMULATION</a:t>
              </a:r>
            </a:p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FFC85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&amp; VALIDATION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31800" y="1939925"/>
              <a:ext cx="4191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Compare adaptive timing against a fixed 45 s baseline.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876300" y="8096250"/>
            <a:ext cx="1524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2F7FB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vision supplies real-time density, waiting time, speed and emergency priority.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/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End-to-end 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4019550" y="3286125"/>
            <a:ext cx="1314450" cy="0"/>
          </a:xfrm>
          <a:prstGeom prst="line">
            <a:avLst/>
          </a:prstGeom>
          <a:ln cap="rnd" w="38100">
            <a:solidFill>
              <a:srgbClr val="2439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44000" y="3286125"/>
            <a:ext cx="1238250" cy="1285875"/>
          </a:xfrm>
          <a:prstGeom prst="line">
            <a:avLst/>
          </a:prstGeom>
          <a:ln cap="rnd" w="38100">
            <a:solidFill>
              <a:srgbClr val="2439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4382750" y="4762500"/>
            <a:ext cx="571500" cy="0"/>
          </a:xfrm>
          <a:prstGeom prst="line">
            <a:avLst/>
          </a:prstGeom>
          <a:ln cap="rnd" w="38100">
            <a:solidFill>
              <a:srgbClr val="2439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9144000" y="5238750"/>
            <a:ext cx="1238250" cy="2047875"/>
          </a:xfrm>
          <a:prstGeom prst="line">
            <a:avLst/>
          </a:prstGeom>
          <a:ln cap="rnd" w="38100">
            <a:solidFill>
              <a:srgbClr val="2439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4019550" y="5238750"/>
            <a:ext cx="6362700" cy="2047875"/>
          </a:xfrm>
          <a:prstGeom prst="line">
            <a:avLst/>
          </a:prstGeom>
          <a:ln cap="rnd" w="38100">
            <a:solidFill>
              <a:srgbClr val="2439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76300" y="2667000"/>
            <a:ext cx="3143250" cy="1238250"/>
            <a:chOff x="0" y="0"/>
            <a:chExt cx="4191000" cy="1651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91000" cy="1651000"/>
              <a:chOff x="0" y="0"/>
              <a:chExt cx="4191000" cy="1651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19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526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19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4191000" cy="63500"/>
              <a:chOff x="0" y="0"/>
              <a:chExt cx="41910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191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191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04800" y="317500"/>
              <a:ext cx="35814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AI VIDEO ANALYZER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04800" y="1089025"/>
              <a:ext cx="35814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9BB0C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Detection · tracking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34000" y="2667000"/>
            <a:ext cx="3810000" cy="1238250"/>
            <a:chOff x="0" y="0"/>
            <a:chExt cx="5080000" cy="1651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526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5080000" cy="63500"/>
              <a:chOff x="0" y="0"/>
              <a:chExt cx="5080000" cy="63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080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5080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04800" y="317500"/>
              <a:ext cx="44704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76FF9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REAL-TIME TRAFFIC DATA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04800" y="1089025"/>
              <a:ext cx="44704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9BB0C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Queue · wait · speed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382250" y="3905250"/>
            <a:ext cx="4000500" cy="1714500"/>
            <a:chOff x="0" y="0"/>
            <a:chExt cx="5334000" cy="2286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334000" cy="2286000"/>
              <a:chOff x="0" y="0"/>
              <a:chExt cx="5334000" cy="2286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33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5334000">
                    <a:moveTo>
                      <a:pt x="0" y="0"/>
                    </a:moveTo>
                    <a:lnTo>
                      <a:pt x="5334000" y="0"/>
                    </a:lnTo>
                    <a:lnTo>
                      <a:pt x="533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526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533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5334000" cy="63500"/>
              <a:chOff x="0" y="0"/>
              <a:chExt cx="5334000" cy="63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334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5334000">
                    <a:moveTo>
                      <a:pt x="0" y="0"/>
                    </a:moveTo>
                    <a:lnTo>
                      <a:pt x="5334000" y="0"/>
                    </a:lnTo>
                    <a:lnTo>
                      <a:pt x="5334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5334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04800" y="317500"/>
              <a:ext cx="47244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A879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MAMDANI FUZZY CORE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04800" y="1724025"/>
              <a:ext cx="47244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9BB0C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Fuzzify → infer → centroid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954250" y="4095750"/>
            <a:ext cx="2476500" cy="1333500"/>
            <a:chOff x="0" y="0"/>
            <a:chExt cx="3302000" cy="1778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3302000" cy="1778000"/>
              <a:chOff x="0" y="0"/>
              <a:chExt cx="3302000" cy="1778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302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302000">
                    <a:moveTo>
                      <a:pt x="0" y="0"/>
                    </a:moveTo>
                    <a:lnTo>
                      <a:pt x="3302000" y="0"/>
                    </a:lnTo>
                    <a:lnTo>
                      <a:pt x="330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526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3302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302000" cy="63500"/>
              <a:chOff x="0" y="0"/>
              <a:chExt cx="3302000" cy="635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302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3302000">
                    <a:moveTo>
                      <a:pt x="0" y="0"/>
                    </a:moveTo>
                    <a:lnTo>
                      <a:pt x="3302000" y="0"/>
                    </a:lnTo>
                    <a:lnTo>
                      <a:pt x="3302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3302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04800" y="317500"/>
              <a:ext cx="26924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SIGNAL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CONTROLLER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304800" y="1216025"/>
              <a:ext cx="26924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9BB0C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10–90 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334000" y="6667500"/>
            <a:ext cx="3810000" cy="1238250"/>
            <a:chOff x="0" y="0"/>
            <a:chExt cx="5080000" cy="1651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5080000" cy="1651000"/>
              <a:chOff x="0" y="0"/>
              <a:chExt cx="5080000" cy="1651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080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526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5080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0"/>
              <a:ext cx="5080000" cy="63500"/>
              <a:chOff x="0" y="0"/>
              <a:chExt cx="5080000" cy="635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5080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FFC8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5080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304800" y="317500"/>
              <a:ext cx="44704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C85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IoT + HISTORY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304800" y="1089025"/>
              <a:ext cx="44704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9BB0C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Predictive context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76300" y="6667500"/>
            <a:ext cx="3143250" cy="1238250"/>
            <a:chOff x="0" y="0"/>
            <a:chExt cx="4191000" cy="1651000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4191000" cy="1651000"/>
              <a:chOff x="0" y="0"/>
              <a:chExt cx="4191000" cy="16510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419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526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419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0"/>
              <a:ext cx="4191000" cy="63500"/>
              <a:chOff x="0" y="0"/>
              <a:chExt cx="4191000" cy="635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4191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FF5F7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4191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304800" y="317500"/>
              <a:ext cx="35814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5F72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EMERGENCY PREEMPTION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304800" y="1089025"/>
              <a:ext cx="35814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9BB0C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Priority override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/ FUZZY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Controller inputs &amp; output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2305050"/>
            <a:ext cx="16173450" cy="1400175"/>
            <a:chOff x="0" y="0"/>
            <a:chExt cx="21564600" cy="18669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625600"/>
              <a:ext cx="21463000" cy="101600"/>
              <a:chOff x="0" y="0"/>
              <a:chExt cx="21463000" cy="101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4630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21463000">
                    <a:moveTo>
                      <a:pt x="0" y="0"/>
                    </a:moveTo>
                    <a:lnTo>
                      <a:pt x="21463000" y="0"/>
                    </a:lnTo>
                    <a:lnTo>
                      <a:pt x="21463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39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14630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625600"/>
              <a:ext cx="8585200" cy="101600"/>
              <a:chOff x="0" y="0"/>
              <a:chExt cx="8585200" cy="101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852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8585200">
                    <a:moveTo>
                      <a:pt x="0" y="0"/>
                    </a:moveTo>
                    <a:lnTo>
                      <a:pt x="8585200" y="0"/>
                    </a:lnTo>
                    <a:lnTo>
                      <a:pt x="85852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5852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8458200" y="1485900"/>
              <a:ext cx="254000" cy="381000"/>
              <a:chOff x="0" y="0"/>
              <a:chExt cx="254000" cy="381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40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54000">
                    <a:moveTo>
                      <a:pt x="0" y="0"/>
                    </a:moveTo>
                    <a:lnTo>
                      <a:pt x="254000" y="0"/>
                    </a:lnTo>
                    <a:lnTo>
                      <a:pt x="254000" y="381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54000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327025"/>
              <a:ext cx="596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QUEUE LENGTH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451600" y="-104775"/>
              <a:ext cx="6350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 — 50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2801600" y="555625"/>
              <a:ext cx="2794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vehicles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230600" y="504825"/>
              <a:ext cx="533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Current demand pressure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6300" y="4495800"/>
            <a:ext cx="16173450" cy="1400175"/>
            <a:chOff x="0" y="0"/>
            <a:chExt cx="21564600" cy="18669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1625600"/>
              <a:ext cx="21463000" cy="101600"/>
              <a:chOff x="0" y="0"/>
              <a:chExt cx="21463000" cy="1016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4630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21463000">
                    <a:moveTo>
                      <a:pt x="0" y="0"/>
                    </a:moveTo>
                    <a:lnTo>
                      <a:pt x="21463000" y="0"/>
                    </a:lnTo>
                    <a:lnTo>
                      <a:pt x="21463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39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14630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625600"/>
              <a:ext cx="8585200" cy="101600"/>
              <a:chOff x="0" y="0"/>
              <a:chExt cx="8585200" cy="101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5852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8585200">
                    <a:moveTo>
                      <a:pt x="0" y="0"/>
                    </a:moveTo>
                    <a:lnTo>
                      <a:pt x="8585200" y="0"/>
                    </a:lnTo>
                    <a:lnTo>
                      <a:pt x="85852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5852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8458200" y="1485900"/>
              <a:ext cx="254000" cy="381000"/>
              <a:chOff x="0" y="0"/>
              <a:chExt cx="254000" cy="381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540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54000">
                    <a:moveTo>
                      <a:pt x="0" y="0"/>
                    </a:moveTo>
                    <a:lnTo>
                      <a:pt x="254000" y="0"/>
                    </a:lnTo>
                    <a:lnTo>
                      <a:pt x="254000" y="381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54000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327025"/>
              <a:ext cx="596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A87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WAITING TIME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451600" y="-104775"/>
              <a:ext cx="6350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A87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 — 10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2801600" y="555625"/>
              <a:ext cx="2794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minutes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6230600" y="504825"/>
              <a:ext cx="533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Fairness and accumulated delay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6300" y="6686550"/>
            <a:ext cx="16173450" cy="1400175"/>
            <a:chOff x="0" y="0"/>
            <a:chExt cx="21564600" cy="18669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1625600"/>
              <a:ext cx="21463000" cy="101600"/>
              <a:chOff x="0" y="0"/>
              <a:chExt cx="21463000" cy="101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4630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21463000">
                    <a:moveTo>
                      <a:pt x="0" y="0"/>
                    </a:moveTo>
                    <a:lnTo>
                      <a:pt x="21463000" y="0"/>
                    </a:lnTo>
                    <a:lnTo>
                      <a:pt x="21463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39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214630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1625600"/>
              <a:ext cx="10731500" cy="101600"/>
              <a:chOff x="0" y="0"/>
              <a:chExt cx="10731500" cy="1016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7315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10731500">
                    <a:moveTo>
                      <a:pt x="0" y="0"/>
                    </a:moveTo>
                    <a:lnTo>
                      <a:pt x="10731500" y="0"/>
                    </a:lnTo>
                    <a:lnTo>
                      <a:pt x="107315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07315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0604500" y="1485900"/>
              <a:ext cx="254000" cy="381000"/>
              <a:chOff x="0" y="0"/>
              <a:chExt cx="254000" cy="381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540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254000">
                    <a:moveTo>
                      <a:pt x="0" y="0"/>
                    </a:moveTo>
                    <a:lnTo>
                      <a:pt x="254000" y="0"/>
                    </a:lnTo>
                    <a:lnTo>
                      <a:pt x="254000" y="381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254000" cy="41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0" y="327025"/>
              <a:ext cx="596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GREEN-LIGHT DURATION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6451600" y="-104775"/>
              <a:ext cx="6350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 — 90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2801600" y="555625"/>
              <a:ext cx="2794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seconds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6230600" y="504825"/>
              <a:ext cx="5334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Adaptive control action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/ MEMBERSHIP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Report model vs. HTML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" y="2047875"/>
            <a:ext cx="7239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REPORT · COARSER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20250" y="2047875"/>
            <a:ext cx="7239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76FF9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HTML · FINER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76300" y="3352800"/>
            <a:ext cx="7239000" cy="1143000"/>
            <a:chOff x="0" y="0"/>
            <a:chExt cx="9652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1E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5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1162050" y="3524250"/>
            <a:ext cx="3333750" cy="809625"/>
          </a:xfrm>
          <a:prstGeom prst="line">
            <a:avLst/>
          </a:prstGeom>
          <a:ln cap="flat" w="38100">
            <a:solidFill>
              <a:srgbClr val="20E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495800" y="3524250"/>
            <a:ext cx="3333750" cy="809625"/>
          </a:xfrm>
          <a:prstGeom prst="line">
            <a:avLst/>
          </a:prstGeom>
          <a:ln cap="flat" w="38100">
            <a:solidFill>
              <a:srgbClr val="20E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876300" y="2924175"/>
            <a:ext cx="285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QUEUE · 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53050" y="2924175"/>
            <a:ext cx="2762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9BB0C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  /  25  /  50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6300" y="5305425"/>
            <a:ext cx="7239000" cy="1143000"/>
            <a:chOff x="0" y="0"/>
            <a:chExt cx="9652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5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1E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5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162050" y="5476875"/>
            <a:ext cx="3333750" cy="809625"/>
          </a:xfrm>
          <a:prstGeom prst="line">
            <a:avLst/>
          </a:prstGeom>
          <a:ln cap="flat" w="38100">
            <a:solidFill>
              <a:srgbClr val="20E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4495800" y="5476875"/>
            <a:ext cx="3333750" cy="809625"/>
          </a:xfrm>
          <a:prstGeom prst="line">
            <a:avLst/>
          </a:prstGeom>
          <a:ln cap="flat" w="38100">
            <a:solidFill>
              <a:srgbClr val="20E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76300" y="4876800"/>
            <a:ext cx="285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WAIT · SHORT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3050" y="4876800"/>
            <a:ext cx="2762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9BB0C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  /  5  /  10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76300" y="7258050"/>
            <a:ext cx="7239000" cy="1143000"/>
            <a:chOff x="0" y="0"/>
            <a:chExt cx="9652000" cy="152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5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1E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65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1162050" y="7429500"/>
            <a:ext cx="3333750" cy="809625"/>
          </a:xfrm>
          <a:prstGeom prst="line">
            <a:avLst/>
          </a:prstGeom>
          <a:ln cap="flat" w="38100">
            <a:solidFill>
              <a:srgbClr val="20E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4495800" y="7429500"/>
            <a:ext cx="3333750" cy="809625"/>
          </a:xfrm>
          <a:prstGeom prst="line">
            <a:avLst/>
          </a:prstGeom>
          <a:ln cap="flat" w="38100">
            <a:solidFill>
              <a:srgbClr val="20E3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876300" y="6829425"/>
            <a:ext cx="285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DURATION · SHORT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53050" y="6829425"/>
            <a:ext cx="2762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9BB0C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 /  50  /  90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20250" y="3352800"/>
            <a:ext cx="7239000" cy="1143000"/>
            <a:chOff x="0" y="0"/>
            <a:chExt cx="9652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5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1E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65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 flipV="true">
            <a:off x="9906000" y="3524250"/>
            <a:ext cx="3333750" cy="809625"/>
          </a:xfrm>
          <a:prstGeom prst="line">
            <a:avLst/>
          </a:prstGeom>
          <a:ln cap="flat" w="38100">
            <a:solidFill>
              <a:srgbClr val="76FF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3239750" y="3524250"/>
            <a:ext cx="3333750" cy="809625"/>
          </a:xfrm>
          <a:prstGeom prst="line">
            <a:avLst/>
          </a:prstGeom>
          <a:ln cap="flat" w="38100">
            <a:solidFill>
              <a:srgbClr val="76FF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620250" y="2924175"/>
            <a:ext cx="285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6FF9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QUEUE · LOW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97000" y="2924175"/>
            <a:ext cx="2762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9BB0C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  /  0  /  15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620250" y="5305425"/>
            <a:ext cx="7239000" cy="1143000"/>
            <a:chOff x="0" y="0"/>
            <a:chExt cx="9652000" cy="152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5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1E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65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9906000" y="5476875"/>
            <a:ext cx="3333750" cy="809625"/>
          </a:xfrm>
          <a:prstGeom prst="line">
            <a:avLst/>
          </a:prstGeom>
          <a:ln cap="flat" w="38100">
            <a:solidFill>
              <a:srgbClr val="76FF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13239750" y="5476875"/>
            <a:ext cx="3333750" cy="809625"/>
          </a:xfrm>
          <a:prstGeom prst="line">
            <a:avLst/>
          </a:prstGeom>
          <a:ln cap="flat" w="38100">
            <a:solidFill>
              <a:srgbClr val="76FF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9620250" y="4876800"/>
            <a:ext cx="285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6FF9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WAIT · SHORT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97000" y="4876800"/>
            <a:ext cx="2762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9BB0C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  /  0  /  3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620250" y="7258050"/>
            <a:ext cx="7239000" cy="1143000"/>
            <a:chOff x="0" y="0"/>
            <a:chExt cx="9652000" cy="1524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5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1E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65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8" id="48"/>
          <p:cNvSpPr/>
          <p:nvPr/>
        </p:nvSpPr>
        <p:spPr>
          <a:xfrm flipV="true">
            <a:off x="9906000" y="7429500"/>
            <a:ext cx="3333750" cy="809625"/>
          </a:xfrm>
          <a:prstGeom prst="line">
            <a:avLst/>
          </a:prstGeom>
          <a:ln cap="flat" w="38100">
            <a:solidFill>
              <a:srgbClr val="76FF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13239750" y="7429500"/>
            <a:ext cx="3333750" cy="809625"/>
          </a:xfrm>
          <a:prstGeom prst="line">
            <a:avLst/>
          </a:prstGeom>
          <a:ln cap="flat" w="38100">
            <a:solidFill>
              <a:srgbClr val="76FF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9620250" y="6829425"/>
            <a:ext cx="285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76FF9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DURATION · SHORT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097000" y="6829425"/>
            <a:ext cx="2762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9BB0C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 /  20  /  30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333750" y="9134475"/>
            <a:ext cx="1162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F2F7F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Finer sets react earlier to small changes — improving responsiveness and control precision.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/ KNOWLEDGE BASE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9-rule Mamdani matrix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67250" y="2305050"/>
            <a:ext cx="3524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b="true" sz="1425" spc="171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WAIT: SHORT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67750" y="2305050"/>
            <a:ext cx="3524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b="true" sz="1425" spc="171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WAIT: MEDIUM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68250" y="2305050"/>
            <a:ext cx="3524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b="true" sz="1425" spc="171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WAIT: LONG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300" y="3638550"/>
            <a:ext cx="304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QUEUE: LOW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67250" y="3143250"/>
            <a:ext cx="3524250" cy="1285875"/>
            <a:chOff x="0" y="0"/>
            <a:chExt cx="4699000" cy="1714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SHORT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67750" y="3143250"/>
            <a:ext cx="3524250" cy="1285875"/>
            <a:chOff x="0" y="0"/>
            <a:chExt cx="4699000" cy="1714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SHORT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668250" y="3143250"/>
            <a:ext cx="3524250" cy="1285875"/>
            <a:chOff x="0" y="0"/>
            <a:chExt cx="4699000" cy="17145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A879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MEDIUM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76300" y="5400675"/>
            <a:ext cx="304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QUEUE: MEDIUM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667250" y="4905375"/>
            <a:ext cx="3524250" cy="1285875"/>
            <a:chOff x="0" y="0"/>
            <a:chExt cx="4699000" cy="17145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20E3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SHORT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667750" y="4905375"/>
            <a:ext cx="3524250" cy="1285875"/>
            <a:chOff x="0" y="0"/>
            <a:chExt cx="4699000" cy="17145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A879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MEDIUM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68250" y="4905375"/>
            <a:ext cx="3524250" cy="1285875"/>
            <a:chOff x="0" y="0"/>
            <a:chExt cx="4699000" cy="171450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76FF9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LONG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76300" y="7162800"/>
            <a:ext cx="304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QUEUE: HIGH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4667250" y="6667500"/>
            <a:ext cx="3524250" cy="1285875"/>
            <a:chOff x="0" y="0"/>
            <a:chExt cx="4699000" cy="1714500"/>
          </a:xfrm>
        </p:grpSpPr>
        <p:grpSp>
          <p:nvGrpSpPr>
            <p:cNvPr name="Group 63" id="63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A879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MEDIUM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667750" y="6667500"/>
            <a:ext cx="3524250" cy="1285875"/>
            <a:chOff x="0" y="0"/>
            <a:chExt cx="4699000" cy="1714500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76FF9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LONG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668250" y="6667500"/>
            <a:ext cx="3524250" cy="1285875"/>
            <a:chOff x="0" y="0"/>
            <a:chExt cx="4699000" cy="1714500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4699000" cy="1714500"/>
              <a:chOff x="0" y="0"/>
              <a:chExt cx="4699000" cy="17145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4699000" cy="1714500"/>
              </a:xfrm>
              <a:custGeom>
                <a:avLst/>
                <a:gdLst/>
                <a:ahLst/>
                <a:cxnLst/>
                <a:rect r="r" b="b" t="t" l="l"/>
                <a:pathLst>
                  <a:path h="1714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1714500"/>
                    </a:lnTo>
                    <a:lnTo>
                      <a:pt x="0" y="17145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4699000" cy="175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0" y="0"/>
              <a:ext cx="4699000" cy="63500"/>
              <a:chOff x="0" y="0"/>
              <a:chExt cx="4699000" cy="635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46990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46990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0" y="396875"/>
              <a:ext cx="4699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76FF9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LONG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876300" y="8829675"/>
            <a:ext cx="1428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F2F7FB"/>
                </a:solidFill>
                <a:latin typeface="IBM Plex Mono"/>
                <a:ea typeface="IBM Plex Mono"/>
                <a:cs typeface="IBM Plex Mono"/>
                <a:sym typeface="IBM Plex Mono"/>
              </a:rPr>
              <a:t>EXAMPLE  ·  IF Queue is LOW and Wait is SHORT  →  Duration is SHORT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/ COMPUTATION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Mamdani inference pipeline &amp; equations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2286000"/>
            <a:ext cx="7524750" cy="2000250"/>
            <a:chOff x="0" y="0"/>
            <a:chExt cx="10033000" cy="2667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033000" cy="2667000"/>
              <a:chOff x="0" y="0"/>
              <a:chExt cx="10033000" cy="266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033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033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327025"/>
              <a:ext cx="9271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 FUZZIFY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1000" y="1095375"/>
              <a:ext cx="9271000" cy="918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μ(x;a,b,c) = max{0, min[(x−a)/(b−a), (c−x)/(c−b)]}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67800" y="2286000"/>
            <a:ext cx="7524750" cy="2000250"/>
            <a:chOff x="0" y="0"/>
            <a:chExt cx="10033000" cy="2667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033000" cy="2667000"/>
              <a:chOff x="0" y="0"/>
              <a:chExt cx="10033000" cy="2667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033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033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1000" y="327025"/>
              <a:ext cx="9271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 FIRE RULES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1000" y="1095375"/>
              <a:ext cx="9271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αᵢ = min( μQueue , μWait 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6300" y="4762500"/>
            <a:ext cx="7524750" cy="2000250"/>
            <a:chOff x="0" y="0"/>
            <a:chExt cx="10033000" cy="2667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033000" cy="2667000"/>
              <a:chOff x="0" y="0"/>
              <a:chExt cx="10033000" cy="2667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033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0033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81000" y="327025"/>
              <a:ext cx="9271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 AGGREGATE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81000" y="1095375"/>
              <a:ext cx="9271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μAgg(z) = maxᵢ min( αᵢ , μOutputᵢ(z) 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67800" y="4762500"/>
            <a:ext cx="7524750" cy="2000250"/>
            <a:chOff x="0" y="0"/>
            <a:chExt cx="10033000" cy="2667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033000" cy="2667000"/>
              <a:chOff x="0" y="0"/>
              <a:chExt cx="10033000" cy="2667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033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0033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81000" y="327025"/>
              <a:ext cx="9271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 DEFUZZIFY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81000" y="1095375"/>
              <a:ext cx="9271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z* = ∫ z·μAgg(z) dz  /  ∫ μAgg(z) dz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6300" y="7334250"/>
            <a:ext cx="16535400" cy="1238250"/>
            <a:chOff x="0" y="0"/>
            <a:chExt cx="22047200" cy="1651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22047200" cy="1651000"/>
              <a:chOff x="0" y="0"/>
              <a:chExt cx="22047200" cy="1651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20472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2047200">
                    <a:moveTo>
                      <a:pt x="0" y="0"/>
                    </a:moveTo>
                    <a:lnTo>
                      <a:pt x="22047200" y="0"/>
                    </a:lnTo>
                    <a:lnTo>
                      <a:pt x="220472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526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20472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41592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OPTICAL FLOW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403600" y="307975"/>
              <a:ext cx="8255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speed = pixel displacement × scale / Δt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2928600" y="327025"/>
              <a:ext cx="825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FF5F7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IF speed &gt; limit  →  flag violation event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/ WORKED EXAMPLE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Queue = 20 · Wait =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2667000"/>
            <a:ext cx="4953000" cy="3429000"/>
            <a:chOff x="0" y="0"/>
            <a:chExt cx="6604000" cy="4572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04000" cy="4572000"/>
              <a:chOff x="0" y="0"/>
              <a:chExt cx="6604000" cy="4572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04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604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88900"/>
              <a:chOff x="0" y="0"/>
              <a:chExt cx="6604000" cy="889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12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81000" y="606425"/>
              <a:ext cx="5842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INPUT MEMBERSHIPS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81000" y="1603375"/>
              <a:ext cx="5842000" cy="918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Queue: Low 0.2 · Medium 0.8</a:t>
              </a:r>
            </a:p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Wait: Short 0.2 · Medium 0.8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924550" y="4381500"/>
            <a:ext cx="476250" cy="0"/>
          </a:xfrm>
          <a:prstGeom prst="line">
            <a:avLst/>
          </a:prstGeom>
          <a:ln cap="flat" w="47625">
            <a:solidFill>
              <a:srgbClr val="2439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6496050" y="2667000"/>
            <a:ext cx="4953000" cy="3429000"/>
            <a:chOff x="0" y="0"/>
            <a:chExt cx="6604000" cy="4572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4572000"/>
              <a:chOff x="0" y="0"/>
              <a:chExt cx="6604000" cy="4572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6604000" cy="88900"/>
              <a:chOff x="0" y="0"/>
              <a:chExt cx="6604000" cy="889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040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604000" cy="12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81000" y="606425"/>
              <a:ext cx="5842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A87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ACTIVE RULES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1603375"/>
              <a:ext cx="5842000" cy="918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R1 0.2 · R2 0.2 → Short</a:t>
              </a:r>
            </a:p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F2F7F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R4 0.2 · R5 0.8 → Medium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1544300" y="4381500"/>
            <a:ext cx="476250" cy="0"/>
          </a:xfrm>
          <a:prstGeom prst="line">
            <a:avLst/>
          </a:prstGeom>
          <a:ln cap="flat" w="47625">
            <a:solidFill>
              <a:srgbClr val="2439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2115800" y="2667000"/>
            <a:ext cx="4953000" cy="3429000"/>
            <a:chOff x="0" y="0"/>
            <a:chExt cx="6604000" cy="4572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604000" cy="4572000"/>
              <a:chOff x="0" y="0"/>
              <a:chExt cx="6604000" cy="4572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604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6604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88900"/>
              <a:chOff x="0" y="0"/>
              <a:chExt cx="6604000" cy="889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12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81000" y="606425"/>
              <a:ext cx="5842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71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DEFUZZIFIED OUTPUT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81000" y="1955800"/>
              <a:ext cx="5842000" cy="858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76FF9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≈ 41.43 seconds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048000" y="7191375"/>
            <a:ext cx="12192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9BB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Weighted representative centers:  short ≈ 30 s  ·  medium ≈ 50 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57500" y="8058150"/>
            <a:ext cx="12573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F2F7F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result is smooth, explainable, and bounded by the 10–90 s control range.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 / COMPUTER VISION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AI video analyzer module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15250" y="2143125"/>
            <a:ext cx="9696450" cy="7048500"/>
          </a:xfrm>
          <a:custGeom>
            <a:avLst/>
            <a:gdLst/>
            <a:ahLst/>
            <a:cxnLst/>
            <a:rect r="r" b="b" t="t" l="l"/>
            <a:pathLst>
              <a:path h="7048500" w="9696450">
                <a:moveTo>
                  <a:pt x="0" y="0"/>
                </a:moveTo>
                <a:lnTo>
                  <a:pt x="9696450" y="0"/>
                </a:lnTo>
                <a:lnTo>
                  <a:pt x="9696450" y="7048500"/>
                </a:lnTo>
                <a:lnTo>
                  <a:pt x="0" y="704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" t="0" r="-45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876300" y="2524125"/>
            <a:ext cx="5600700" cy="923925"/>
            <a:chOff x="0" y="0"/>
            <a:chExt cx="7467600" cy="12319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63500"/>
              <a:ext cx="101600" cy="1168400"/>
              <a:chOff x="0" y="0"/>
              <a:chExt cx="101600" cy="1168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16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16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55600" y="-38100"/>
              <a:ext cx="2794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07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DETECT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5600" y="5238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Vehicle classes &amp; emergency types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6300" y="4143375"/>
            <a:ext cx="5600700" cy="923925"/>
            <a:chOff x="0" y="0"/>
            <a:chExt cx="7467600" cy="12319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63500"/>
              <a:ext cx="101600" cy="1168400"/>
              <a:chOff x="0" y="0"/>
              <a:chExt cx="101600" cy="1168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6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16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55600" y="-38100"/>
              <a:ext cx="2794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07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TRACK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5600" y="5238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Persistent trajectories and counts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6300" y="5762625"/>
            <a:ext cx="5600700" cy="923925"/>
            <a:chOff x="0" y="0"/>
            <a:chExt cx="7467600" cy="12319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63500"/>
              <a:ext cx="101600" cy="1168400"/>
              <a:chOff x="0" y="0"/>
              <a:chExt cx="101600" cy="1168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16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20E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16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55600" y="-38100"/>
              <a:ext cx="2794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07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ESTIMATE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55600" y="5238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Queue, wait and road speed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6300" y="7381875"/>
            <a:ext cx="5600700" cy="923925"/>
            <a:chOff x="0" y="0"/>
            <a:chExt cx="7467600" cy="12319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63500"/>
              <a:ext cx="101600" cy="1168400"/>
              <a:chOff x="0" y="0"/>
              <a:chExt cx="101600" cy="1168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55600" y="-38100"/>
              <a:ext cx="2794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07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PRIVACY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5600" y="5238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On-device browser processing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/ SIMULATION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Emergency priority &amp; 4-way simulation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76300" y="2190750"/>
            <a:ext cx="10001250" cy="6667500"/>
          </a:xfrm>
          <a:custGeom>
            <a:avLst/>
            <a:gdLst/>
            <a:ahLst/>
            <a:cxnLst/>
            <a:rect r="r" b="b" t="t" l="l"/>
            <a:pathLst>
              <a:path h="6667500" w="10001250">
                <a:moveTo>
                  <a:pt x="0" y="0"/>
                </a:moveTo>
                <a:lnTo>
                  <a:pt x="10001250" y="0"/>
                </a:lnTo>
                <a:lnTo>
                  <a:pt x="1000125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" t="0" r="-3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1430000" y="2390775"/>
            <a:ext cx="5715000" cy="482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600" b="true">
                <a:solidFill>
                  <a:srgbClr val="76FF9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90 s GREEN WAVE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0" y="3114675"/>
            <a:ext cx="571500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Emergency detection overrides the fuzzy cycle and clears a coordinated corridor.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0" y="4362450"/>
            <a:ext cx="5715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PAUSE  ·  MODE  ·  RUSH SURGE  ·  AMBULANCE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0" y="5429250"/>
            <a:ext cx="2381250" cy="990600"/>
            <a:chOff x="0" y="0"/>
            <a:chExt cx="3175000" cy="13208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2540000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142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96950"/>
              <a:ext cx="3175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vehicles cleared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82750" y="5429250"/>
            <a:ext cx="2381250" cy="990600"/>
            <a:chOff x="0" y="0"/>
            <a:chExt cx="3175000" cy="13208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3175000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1.84 L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96950"/>
              <a:ext cx="3175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idle fuel saved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0" y="7239000"/>
            <a:ext cx="2857500" cy="990600"/>
            <a:chOff x="0" y="0"/>
            <a:chExt cx="3810000" cy="132080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85725"/>
              <a:ext cx="3810000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b="true">
                  <a:solidFill>
                    <a:srgbClr val="A87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4.25 kg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96950"/>
              <a:ext cx="3175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CO₂ averted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 / VALIDATION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Benchmark results vs. fixed 45 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67211" y="1363268"/>
            <a:ext cx="12088272" cy="8131965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1430000" y="2333625"/>
            <a:ext cx="5238750" cy="1238250"/>
            <a:chOff x="0" y="0"/>
            <a:chExt cx="6985000" cy="1651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985000" cy="1651000"/>
              <a:chOff x="0" y="0"/>
              <a:chExt cx="6985000" cy="165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85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985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241300"/>
              <a:ext cx="5969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true">
                  <a:solidFill>
                    <a:srgbClr val="A87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-196.8 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11239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total delay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0" y="3857625"/>
            <a:ext cx="5238750" cy="1238250"/>
            <a:chOff x="0" y="0"/>
            <a:chExt cx="6985000" cy="1651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985000" cy="1651000"/>
              <a:chOff x="0" y="0"/>
              <a:chExt cx="6985000" cy="165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985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985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241300"/>
              <a:ext cx="5969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+43.8 %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11239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efficiency boost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30000" y="5381625"/>
            <a:ext cx="5238750" cy="1238250"/>
            <a:chOff x="0" y="0"/>
            <a:chExt cx="6985000" cy="1651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985000" cy="1651000"/>
              <a:chOff x="0" y="0"/>
              <a:chExt cx="6985000" cy="1651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985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985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81000" y="241300"/>
              <a:ext cx="5969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true">
                  <a:solidFill>
                    <a:srgbClr val="20E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1.44 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81000" y="11239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fuel saved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0" y="6905625"/>
            <a:ext cx="5238750" cy="1238250"/>
            <a:chOff x="0" y="0"/>
            <a:chExt cx="6985000" cy="1651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985000" cy="1651000"/>
              <a:chOff x="0" y="0"/>
              <a:chExt cx="6985000" cy="1651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985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985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241300"/>
              <a:ext cx="5969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true">
                  <a:solidFill>
                    <a:srgbClr val="A87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3.33 kg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81000" y="11239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9BB0C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CO₂ averted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76300" y="9020175"/>
            <a:ext cx="142875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10 input combinations validated across low, medium, and high-demand scenarios.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 / BUILD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Implementation &amp; user 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810500" y="2143125"/>
            <a:ext cx="9601200" cy="6953250"/>
          </a:xfrm>
          <a:custGeom>
            <a:avLst/>
            <a:gdLst/>
            <a:ahLst/>
            <a:cxnLst/>
            <a:rect r="r" b="b" t="t" l="l"/>
            <a:pathLst>
              <a:path h="6953250" w="9601200">
                <a:moveTo>
                  <a:pt x="0" y="0"/>
                </a:moveTo>
                <a:lnTo>
                  <a:pt x="9601200" y="0"/>
                </a:lnTo>
                <a:lnTo>
                  <a:pt x="9601200" y="6953250"/>
                </a:lnTo>
                <a:lnTo>
                  <a:pt x="0" y="6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" t="0" r="-3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876300" y="2486025"/>
            <a:ext cx="5238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PYTHON 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6300" y="2962275"/>
            <a:ext cx="5810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NumPy + fuzzy ControlSystem classes implement membership, rules and centroid inference.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300" y="4724400"/>
            <a:ext cx="5238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76FF9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STREAMLIT UI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300" y="5200650"/>
            <a:ext cx="5810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and max-wait sliders with a direct calculation workflow.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6819900"/>
            <a:ext cx="5238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A879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HTML INTERACTIVE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7296150"/>
            <a:ext cx="5810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controls, visualizations and video analysis in one modular surface.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857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 / REFLECTION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81075"/>
            <a:ext cx="1428750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Strengths, limitations &amp; 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73500" y="600075"/>
            <a:ext cx="857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62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" y="1657350"/>
            <a:ext cx="16535400" cy="19050"/>
            <a:chOff x="0" y="0"/>
            <a:chExt cx="220472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39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2286000"/>
            <a:ext cx="5000625" cy="5715000"/>
            <a:chOff x="0" y="0"/>
            <a:chExt cx="6667500" cy="7620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67500" cy="7620000"/>
              <a:chOff x="0" y="0"/>
              <a:chExt cx="6667500" cy="762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675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6675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6667500" cy="101600"/>
              <a:chOff x="0" y="0"/>
              <a:chExt cx="6667500" cy="101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675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76FF9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675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44500" y="542925"/>
              <a:ext cx="571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76FF9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STRENGTHS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44500" y="1606550"/>
              <a:ext cx="5588000" cy="2020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Less wasted green time</a:t>
              </a:r>
            </a:p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Fairness through wait time</a:t>
              </a:r>
            </a:p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Emergency vehicle priority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53175" y="2286000"/>
            <a:ext cx="5000625" cy="5715000"/>
            <a:chOff x="0" y="0"/>
            <a:chExt cx="6667500" cy="7620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67500" cy="7620000"/>
              <a:chOff x="0" y="0"/>
              <a:chExt cx="6667500" cy="762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675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675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6667500" cy="101600"/>
              <a:chOff x="0" y="0"/>
              <a:chExt cx="6667500" cy="101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675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FF5F7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675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44500" y="542925"/>
              <a:ext cx="571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FF5F7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LIMITATIONS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44500" y="1606550"/>
              <a:ext cx="5588000" cy="2020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Isolated intersection control</a:t>
              </a:r>
            </a:p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Downstream congestion risk</a:t>
              </a:r>
            </a:p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Vision depends on scene quality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30050" y="2286000"/>
            <a:ext cx="5000625" cy="5715000"/>
            <a:chOff x="0" y="0"/>
            <a:chExt cx="6667500" cy="7620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667500" cy="7620000"/>
              <a:chOff x="0" y="0"/>
              <a:chExt cx="6667500" cy="762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675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101E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66675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6667500" cy="101600"/>
              <a:chOff x="0" y="0"/>
              <a:chExt cx="6667500" cy="101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67500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h="101600" w="6667500">
                    <a:moveTo>
                      <a:pt x="0" y="0"/>
                    </a:moveTo>
                    <a:lnTo>
                      <a:pt x="6667500" y="0"/>
                    </a:lnTo>
                    <a:lnTo>
                      <a:pt x="66675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A87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6667500" cy="13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44500" y="542925"/>
              <a:ext cx="5715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spc="225" b="true">
                  <a:solidFill>
                    <a:srgbClr val="A87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FUTURE SCOPE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44500" y="1606550"/>
              <a:ext cx="5588000" cy="2020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Multi-agent city coordination</a:t>
              </a:r>
            </a:p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Weather and environment inputs</a:t>
              </a:r>
            </a:p>
            <a:p>
              <a:pPr algn="l">
                <a:lnSpc>
                  <a:spcPts val="4200"/>
                </a:lnSpc>
              </a:pPr>
              <a:r>
                <a:rPr lang="en-US" sz="2100">
                  <a:solidFill>
                    <a:srgbClr val="F2F7F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Number-plate recognition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76300" y="8715375"/>
            <a:ext cx="1571625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20E3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Next horizon: coordinated green waves that learn across an entire city network.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49250" y="857250"/>
            <a:ext cx="4000500" cy="4286250"/>
            <a:chOff x="0" y="0"/>
            <a:chExt cx="5334000" cy="571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34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A879FF">
                <a:alpha val="1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34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49250" y="3574733"/>
            <a:ext cx="4000500" cy="3664267"/>
            <a:chOff x="0" y="0"/>
            <a:chExt cx="5334000" cy="48856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4885690"/>
            </a:xfrm>
            <a:custGeom>
              <a:avLst/>
              <a:gdLst/>
              <a:ahLst/>
              <a:cxnLst/>
              <a:rect r="r" b="b" t="t" l="l"/>
              <a:pathLst>
                <a:path h="488569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4885690"/>
                  </a:lnTo>
                  <a:lnTo>
                    <a:pt x="0" y="4885690"/>
                  </a:lnTo>
                  <a:close/>
                </a:path>
              </a:pathLst>
            </a:custGeom>
            <a:solidFill>
              <a:srgbClr val="76FF9F">
                <a:alpha val="1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4923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952500"/>
            <a:ext cx="76200" cy="7524750"/>
            <a:chOff x="0" y="0"/>
            <a:chExt cx="101600" cy="1003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033000"/>
            </a:xfrm>
            <a:custGeom>
              <a:avLst/>
              <a:gdLst/>
              <a:ahLst/>
              <a:cxnLst/>
              <a:rect r="r" b="b" t="t" l="l"/>
              <a:pathLst>
                <a:path h="10033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0033000"/>
                  </a:lnTo>
                  <a:lnTo>
                    <a:pt x="0" y="10033000"/>
                  </a:lnTo>
                  <a:close/>
                </a:path>
              </a:pathLst>
            </a:custGeom>
            <a:solidFill>
              <a:srgbClr val="20E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" cy="1007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85875" y="971550"/>
            <a:ext cx="476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 / 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875" y="2200275"/>
            <a:ext cx="10668000" cy="25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Human reasoning.</a:t>
            </a:r>
          </a:p>
          <a:p>
            <a:pPr algn="l">
              <a:lnSpc>
                <a:spcPts val="6732"/>
              </a:lnSpc>
            </a:pPr>
            <a:r>
              <a:rPr lang="en-US" sz="660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Machine perception.</a:t>
            </a:r>
          </a:p>
          <a:p>
            <a:pPr algn="l">
              <a:lnSpc>
                <a:spcPts val="6732"/>
              </a:lnSpc>
            </a:pPr>
            <a:r>
              <a:rPr lang="en-US" sz="6600" b="true">
                <a:solidFill>
                  <a:srgbClr val="F2F7F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Better movement.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5486400"/>
            <a:ext cx="1000125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9B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Fuzzy logic and AI-driven sensing create an explainable, responsive controller that reduces delay, cuts idle emissions, and prioritizes emergency vehicles.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3500" y="7191375"/>
            <a:ext cx="112395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true">
                <a:solidFill>
                  <a:srgbClr val="76FF9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CYBERTRAFFIC AI is a practical step toward adaptive smart-city mobility.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3500" y="8820150"/>
            <a:ext cx="857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20E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THANK YOU  /  QUESTIONS?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287500" y="2095500"/>
            <a:ext cx="1143000" cy="1143000"/>
            <a:chOff x="0" y="0"/>
            <a:chExt cx="1524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FF5F7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87500" y="3810000"/>
            <a:ext cx="1143000" cy="1143000"/>
            <a:chOff x="0" y="0"/>
            <a:chExt cx="1524000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FFC85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7500" y="5524500"/>
            <a:ext cx="1143000" cy="1143000"/>
            <a:chOff x="0" y="0"/>
            <a:chExt cx="1524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76FF9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DAHXZJBFUm8</dc:identifier>
  <dcterms:modified xsi:type="dcterms:W3CDTF">2011-08-01T06:04:30Z</dcterms:modified>
  <cp:revision>1</cp:revision>
  <dc:title>CYBERTRAFFIC AI</dc:title>
</cp:coreProperties>
</file>